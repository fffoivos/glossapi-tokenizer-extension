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eaa08b736f4eea" /><Relationship Type="http://schemas.openxmlformats.org/officeDocument/2006/relationships/extended-properties" Target="/docProps/app.xml" Id="R75e8fe4889f04c66" /><Relationship Type="http://schemas.openxmlformats.org/officeDocument/2006/relationships/officeDocument" Target="/ppt/presentation.xml" Id="Rc8efcfc385d440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0c38078fa04c43"/>
  </p:sldMasterIdLst>
  <p:notesMasterIdLst>
    <p:notesMasterId xmlns:r="http://schemas.openxmlformats.org/officeDocument/2006/relationships" r:id="Re0abdd4141a94ce0"/>
  </p:notesMasterIdLst>
  <p:sldIdLst>
    <p:sldId xmlns:r="http://schemas.openxmlformats.org/officeDocument/2006/relationships" id="256" r:id="R868a478392f44da0"/>
    <p:sldId xmlns:r="http://schemas.openxmlformats.org/officeDocument/2006/relationships" id="257" r:id="Rc1ea5af581804412"/>
    <p:sldId xmlns:r="http://schemas.openxmlformats.org/officeDocument/2006/relationships" id="258" r:id="Rb368b4e1232c44ef"/>
    <p:sldId xmlns:r="http://schemas.openxmlformats.org/officeDocument/2006/relationships" id="259" r:id="R74fab1014b2d45fe"/>
    <p:sldId xmlns:r="http://schemas.openxmlformats.org/officeDocument/2006/relationships" id="260" r:id="Rbfbac20df686426f"/>
    <p:sldId xmlns:r="http://schemas.openxmlformats.org/officeDocument/2006/relationships" id="261" r:id="R9150b7e56a2f40fb"/>
    <p:sldId xmlns:r="http://schemas.openxmlformats.org/officeDocument/2006/relationships" id="262" r:id="R64a968d64c674002"/>
    <p:sldId xmlns:r="http://schemas.openxmlformats.org/officeDocument/2006/relationships" id="263" r:id="Rc2f0d63e41da4861"/>
    <p:sldId xmlns:r="http://schemas.openxmlformats.org/officeDocument/2006/relationships" id="264" r:id="Rb68beab74b4844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4c199baa0b4f36" /><Relationship Type="http://schemas.openxmlformats.org/officeDocument/2006/relationships/slideMaster" Target="/ppt/slideMasters/slideMaster1.xml" Id="Rfd0c38078fa04c43" /><Relationship Type="http://schemas.openxmlformats.org/officeDocument/2006/relationships/notesMaster" Target="/ppt/notesMasters/notesMaster1.xml" Id="Re0abdd4141a94ce0" /><Relationship Type="http://schemas.openxmlformats.org/officeDocument/2006/relationships/presProps" Target="/ppt/presProps.xml" Id="R2c715aa19b0d422f" /><Relationship Type="http://schemas.openxmlformats.org/officeDocument/2006/relationships/tableStyles" Target="/ppt/tableStyles.xml" Id="R17ec549cc7e940e6" /><Relationship Type="http://schemas.openxmlformats.org/officeDocument/2006/relationships/slide" Target="/ppt/slides/slide1.xml" Id="R868a478392f44da0" /><Relationship Type="http://schemas.openxmlformats.org/officeDocument/2006/relationships/slide" Target="/ppt/slides/slide2.xml" Id="Rc1ea5af581804412" /><Relationship Type="http://schemas.openxmlformats.org/officeDocument/2006/relationships/slide" Target="/ppt/slides/slide3.xml" Id="Rb368b4e1232c44ef" /><Relationship Type="http://schemas.openxmlformats.org/officeDocument/2006/relationships/slide" Target="/ppt/slides/slide4.xml" Id="R74fab1014b2d45fe" /><Relationship Type="http://schemas.openxmlformats.org/officeDocument/2006/relationships/slide" Target="/ppt/slides/slide5.xml" Id="Rbfbac20df686426f" /><Relationship Type="http://schemas.openxmlformats.org/officeDocument/2006/relationships/slide" Target="/ppt/slides/slide6.xml" Id="R9150b7e56a2f40fb" /><Relationship Type="http://schemas.openxmlformats.org/officeDocument/2006/relationships/slide" Target="/ppt/slides/slide7.xml" Id="R64a968d64c674002" /><Relationship Type="http://schemas.openxmlformats.org/officeDocument/2006/relationships/slide" Target="/ppt/slides/slide8.xml" Id="Rc2f0d63e41da4861" /><Relationship Type="http://schemas.openxmlformats.org/officeDocument/2006/relationships/slide" Target="/ppt/slides/slide9.xml" Id="Rb68beab74b4844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9b77258e9646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f505b541374737" /><Relationship Type="http://schemas.openxmlformats.org/officeDocument/2006/relationships/notesMaster" Target="/ppt/notesMasters/notesMaster1.xml" Id="R8c9786fc0d2c49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01205a77fd48d0" /><Relationship Type="http://schemas.openxmlformats.org/officeDocument/2006/relationships/notesMaster" Target="/ppt/notesMasters/notesMaster1.xml" Id="R445483f5569f4d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f0d83143c541d9" /><Relationship Type="http://schemas.openxmlformats.org/officeDocument/2006/relationships/notesMaster" Target="/ppt/notesMasters/notesMaster1.xml" Id="R86ad758973c649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3c2904f3394ea7" /><Relationship Type="http://schemas.openxmlformats.org/officeDocument/2006/relationships/notesMaster" Target="/ppt/notesMasters/notesMaster1.xml" Id="R45befdb6aa0449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e0d38230934e8c" /><Relationship Type="http://schemas.openxmlformats.org/officeDocument/2006/relationships/notesMaster" Target="/ppt/notesMasters/notesMaster1.xml" Id="R07c29e81f51943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cd5df160d44787" /><Relationship Type="http://schemas.openxmlformats.org/officeDocument/2006/relationships/notesMaster" Target="/ppt/notesMasters/notesMaster1.xml" Id="R6be330012c274e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4123f334524785" /><Relationship Type="http://schemas.openxmlformats.org/officeDocument/2006/relationships/notesMaster" Target="/ppt/notesMasters/notesMaster1.xml" Id="R08f62864897344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ca7dbfeaad4156" /><Relationship Type="http://schemas.openxmlformats.org/officeDocument/2006/relationships/notesMaster" Target="/ppt/notesMasters/notesMaster1.xml" Id="Ra12f46d8bf7146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1ba7a31ae34e51" /><Relationship Type="http://schemas.openxmlformats.org/officeDocument/2006/relationships/notesMaster" Target="/ppt/notesMasters/notesMaster1.xml" Id="Rd4260d727b9542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on the experimental question: does the final LR tail change which data order wins?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/Users/foivoskarounos-zamparloukos/Projects/train-apertus-with-glossapi/subprojects/06_dataset_scheduling_experiments/FACTORIAL_EXPERIMENT_DESIGN.md</a:t>
            </a:r>
          </a:p>
          <a:p xmlns:a="http://schemas.openxmlformats.org/drawingml/2006/main">
            <a:r>
              <a:t>- /Users/foivoskarounos-zamparloukos/Projects/train-apertus-with-glossapi/subprojects/06_dataset_scheduling_experiments/INITIALIZATION_AND_TRAINING_DECISIONS.md</a:t>
            </a:r>
          </a:p>
          <a:p xmlns:a="http://schemas.openxmlformats.org/drawingml/2006/main">
            <a:r>
              <a:t>- /Users/foivoskarounos-zamparloukos/Projects/train-apertus-with-glossapi/subprojects/06_dataset_scheduling_experiments/configs/experiment_matrix.json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left side is completed empirical evidence. The right side is the predeclared Mini transfer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/Users/foivoskarounos-zamparloukos/Downloads/cpt_peak_lr_sweep.html</a:t>
            </a:r>
          </a:p>
          <a:p xmlns:a="http://schemas.openxmlformats.org/drawingml/2006/main">
            <a:r>
              <a:t>- /Users/foivoskarounos-zamparloukos/Projects/train-apertus-with-glossapi/subprojects/05_token_distillation_cpt/PRODUCTION_LR_DECISION_20260613.md</a:t>
            </a:r>
          </a:p>
          <a:p xmlns:a="http://schemas.openxmlformats.org/drawingml/2006/main">
            <a:r>
              <a:t>- /Users/foivoskarounos-zamparloukos/Projects/train-apertus-with-glossapi/subprojects/06_dataset_scheduling_experiments/INITIALIZATION_AND_TRAINING_DECISIONS.md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top five rows define ordering. The bottom three define optimization. Their cross-product is 15 trajectories.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/Users/foivoskarounos-zamparloukos/Projects/train-apertus-with-glossapi/subprojects/06_dataset_scheduling_experiments/FACTORIAL_EXPERIMENT_DESIGN.md</a:t>
            </a:r>
          </a:p>
          <a:p xmlns:a="http://schemas.openxmlformats.org/drawingml/2006/main">
            <a:r>
              <a:t>- /Users/foivoskarounos-zamparloukos/Projects/train-apertus-with-glossapi/subprojects/06_dataset_scheduling_experiments/configs/experiment_matrix.json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y-axis is normalized to whichever common peak survives the smoke: 3e−4 or the predeclared 1.5e−4 fallback.</a:t>
            </a:r>
          </a:p>
          <a:p xmlns:a="http://schemas.openxmlformats.org/drawingml/2006/main">
            <a:r>
              <a:t>L0 and L1 have the same start, duration, and 1−sqrt shape; only the ending ratio differs.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/Users/foivoskarounos-zamparloukos/Projects/train-apertus-with-glossapi/subprojects/06_dataset_scheduling_experiments/FACTORIAL_EXPERIMENT_DESIGN.md</a:t>
            </a:r>
          </a:p>
          <a:p xmlns:a="http://schemas.openxmlformats.org/drawingml/2006/main">
            <a:r>
              <a:t>- /Users/foivoskarounos-zamparloukos/Projects/train-apertus-with-glossapi/subprojects/06_dataset_scheduling_experiments/INITIALIZATION_AND_TRAINING_DECISIONS.md</a:t>
            </a:r>
          </a:p>
          <a:p xmlns:a="http://schemas.openxmlformats.org/drawingml/2006/main">
            <a:r>
              <a:t>- https://arxiv.org/html/2511.18903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branching is repeated independently for D0 through D4.</a:t>
            </a:r>
          </a:p>
          <a:p xmlns:a="http://schemas.openxmlformats.org/drawingml/2006/main">
            <a:r>
              <a:t>Every LR branch receives identical remaining sequence IDs in identical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/Users/foivoskarounos-zamparloukos/Projects/train-apertus-with-glossapi/subprojects/06_dataset_scheduling_experiments/FACTORIAL_EXPERIMENT_DESIGN.md</a:t>
            </a:r>
          </a:p>
          <a:p xmlns:a="http://schemas.openxmlformats.org/drawingml/2006/main">
            <a:r>
              <a:t>- /Users/foivoskarounos-zamparloukos/Projects/train-apertus-with-glossapi/subprojects/06_dataset_scheduling_experiments/configs/experiment_matrix.json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Raw final, SMA-6, and EMA-6 are evaluated for every trajectory; averaging does not create more training runs.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/Users/foivoskarounos-zamparloukos/Projects/train-apertus-with-glossapi/subprojects/06_dataset_scheduling_experiments/FACTORIAL_EXPERIMENT_DESIGN.md</a:t>
            </a:r>
          </a:p>
          <a:p xmlns:a="http://schemas.openxmlformats.org/drawingml/2006/main">
            <a:r>
              <a:t>- https://arxiv.org/html/2511.18903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Formula: 5×0.8 shared prefixes + 15×0.2 tails = 7 full-run equivalents.</a:t>
            </a:r>
          </a:p>
          <a:p xmlns:a="http://schemas.openxmlformats.org/drawingml/2006/main">
            <a:r>
              <a:t>The two-LR screen is 10 trajectories, 30 endpoints, and 6 full-run equivalents.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/Users/foivoskarounos-zamparloukos/Projects/train-apertus-with-glossapi/subprojects/06_dataset_scheduling_experiments/FACTORIAL_EXPERIMENT_DESIGN.md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Predeclare non-inferiority margins from checkpoint and seed variability before looking at endpoints.</a:t>
            </a:r>
          </a:p>
          <a:p xmlns:a="http://schemas.openxmlformats.org/drawingml/2006/main">
            <a:r>
              <a:t>Repeat D0 and the best one or two curricula with two extra source-order seeds if intervals overlap materially.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/Users/foivoskarounos-zamparloukos/Projects/train-apertus-with-glossapi/subprojects/06_dataset_scheduling_experiments/FACTORIAL_EXPERIMENT_DESIGN.md</a:t>
            </a:r>
          </a:p>
          <a:p xmlns:a="http://schemas.openxmlformats.org/drawingml/2006/main">
            <a:r>
              <a:t>- https://arxiv.org/html/2508.13144v1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contract: this is an experiment about temporal ordering and tail decay, not a new optimizer or systems study.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/Users/foivoskarounos-zamparloukos/Projects/train-apertus-with-glossapi/subprojects/06_dataset_scheduling_experiments/FACTORIAL_EXPERIMENT_DESIGN.md</a:t>
            </a:r>
          </a:p>
          <a:p xmlns:a="http://schemas.openxmlformats.org/drawingml/2006/main">
            <a:r>
              <a:t>- /Users/foivoskarounos-zamparloukos/Projects/train-apertus-with-glossapi/subprojects/06_dataset_scheduling_experiments/INITIALIZATION_AND_TRAINING_DECISIONS.md</a:t>
            </a:r>
          </a:p>
          <a:p xmlns:a="http://schemas.openxmlformats.org/drawingml/2006/main">
            <a:r>
              <a:t>- /Users/foivoskarounos-zamparloukos/Projects/train-apertus-with-glossapi/subprojects/06_dataset_scheduling_experiments/configs/experiment_matrix.json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0df7bf21eb44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54b29475af49dc" /><Relationship Type="http://schemas.openxmlformats.org/officeDocument/2006/relationships/slideLayout" Target="/ppt/slideLayouts/slideLayout1.xml" Id="R002fdf877d734c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2fdf877d734c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cfa1bca2749dc" /><Relationship Type="http://schemas.openxmlformats.org/officeDocument/2006/relationships/notesSlide" Target="/ppt/notesSlides/notesSlide1.xml" Id="R9069328b707e46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73c0d7fbd40f3" /><Relationship Type="http://schemas.openxmlformats.org/officeDocument/2006/relationships/notesSlide" Target="/ppt/notesSlides/notesSlide2.xml" Id="Rfc12807068c940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3f6a9c87944cd" /><Relationship Type="http://schemas.openxmlformats.org/officeDocument/2006/relationships/notesSlide" Target="/ppt/notesSlides/notesSlide3.xml" Id="Rb498bc21e17747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9ad7d410c4052" /><Relationship Type="http://schemas.openxmlformats.org/officeDocument/2006/relationships/chart" Target="/ppt/slides/charts/chart1.xml" Id="Ra304e31af6cd431c" /><Relationship Type="http://schemas.openxmlformats.org/officeDocument/2006/relationships/notesSlide" Target="/ppt/notesSlides/notesSlide4.xml" Id="R5a986f083a614f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de247c6514a98" /><Relationship Type="http://schemas.openxmlformats.org/officeDocument/2006/relationships/notesSlide" Target="/ppt/notesSlides/notesSlide5.xml" Id="R877ae02f41e74e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f70cfd372487f" /><Relationship Type="http://schemas.openxmlformats.org/officeDocument/2006/relationships/notesSlide" Target="/ppt/notesSlides/notesSlide6.xml" Id="R4202a43ec0ff43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e853eddbd4b4f" /><Relationship Type="http://schemas.openxmlformats.org/officeDocument/2006/relationships/notesSlide" Target="/ppt/notesSlides/notesSlide7.xml" Id="R4881515504d048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3a497e7934f89" /><Relationship Type="http://schemas.openxmlformats.org/officeDocument/2006/relationships/notesSlide" Target="/ppt/notesSlides/notesSlide8.xml" Id="R772ddad8b83d4c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c0fc379994c62" /><Relationship Type="http://schemas.openxmlformats.org/officeDocument/2006/relationships/notesSlide" Target="/ppt/notesSlides/notesSlide9.xml" Id="Rd88ef7080dce4524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line"/>
        <c:ser>
          <c:idx val="0"/>
          <c:order val="0"/>
          <c:tx>
            <c:v>L0 · WSD-10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5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  <c:pt idx="31">
                <c:v>62</c:v>
              </c:pt>
              <c:pt idx="32">
                <c:v>64</c:v>
              </c:pt>
              <c:pt idx="33">
                <c:v>66</c:v>
              </c:pt>
              <c:pt idx="34">
                <c:v>68</c:v>
              </c:pt>
              <c:pt idx="35">
                <c:v>70</c:v>
              </c:pt>
              <c:pt idx="36">
                <c:v>72</c:v>
              </c:pt>
              <c:pt idx="37">
                <c:v>74</c:v>
              </c:pt>
              <c:pt idx="38">
                <c:v>76</c:v>
              </c:pt>
              <c:pt idx="39">
                <c:v>78</c:v>
              </c:pt>
              <c:pt idx="40">
                <c:v>80</c:v>
              </c:pt>
              <c:pt idx="41">
                <c:v>82</c:v>
              </c:pt>
              <c:pt idx="42">
                <c:v>84</c:v>
              </c:pt>
              <c:pt idx="43">
                <c:v>86</c:v>
              </c:pt>
              <c:pt idx="44">
                <c:v>88</c:v>
              </c:pt>
              <c:pt idx="45">
                <c:v>90</c:v>
              </c:pt>
              <c:pt idx="46">
                <c:v>92</c:v>
              </c:pt>
              <c:pt idx="47">
                <c:v>94</c:v>
              </c:pt>
              <c:pt idx="48">
                <c:v>96</c:v>
              </c:pt>
              <c:pt idx="49">
                <c:v>98</c:v>
              </c:pt>
              <c:pt idx="50">
                <c:v>100</c:v>
              </c:pt>
            </c:numLit>
          </c:xVal>
          <c:yVal>
            <c:numLit>
              <c:formatCode>0.0x</c:formatCode>
              <c:ptCount val="51"/>
              <c:pt idx="0">
                <c:v>0.1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  <c:pt idx="9">
                <c:v>1</c:v>
              </c:pt>
              <c:pt idx="10">
                <c:v>1</c:v>
              </c:pt>
              <c:pt idx="11">
                <c:v>1</c:v>
              </c:pt>
              <c:pt idx="12">
                <c:v>1</c:v>
              </c:pt>
              <c:pt idx="13">
                <c:v>1</c:v>
              </c:pt>
              <c:pt idx="14">
                <c:v>1</c:v>
              </c:pt>
              <c:pt idx="15">
                <c:v>1</c:v>
              </c:pt>
              <c:pt idx="16">
                <c:v>1</c:v>
              </c:pt>
              <c:pt idx="17">
                <c:v>1</c:v>
              </c:pt>
              <c:pt idx="18">
                <c:v>1</c:v>
              </c:pt>
              <c:pt idx="19">
                <c:v>1</c:v>
              </c:pt>
              <c:pt idx="20">
                <c:v>1</c:v>
              </c:pt>
              <c:pt idx="21">
                <c:v>1</c:v>
              </c:pt>
              <c:pt idx="22">
                <c:v>1</c:v>
              </c:pt>
              <c:pt idx="23">
                <c:v>1</c:v>
              </c:pt>
              <c:pt idx="24">
                <c:v>1</c:v>
              </c:pt>
              <c:pt idx="25">
                <c:v>1</c:v>
              </c:pt>
              <c:pt idx="26">
                <c:v>1</c:v>
              </c:pt>
              <c:pt idx="27">
                <c:v>1</c:v>
              </c:pt>
              <c:pt idx="28">
                <c:v>1</c:v>
              </c:pt>
              <c:pt idx="29">
                <c:v>1</c:v>
              </c:pt>
              <c:pt idx="30">
                <c:v>1</c:v>
              </c:pt>
              <c:pt idx="31">
                <c:v>1</c:v>
              </c:pt>
              <c:pt idx="32">
                <c:v>1</c:v>
              </c:pt>
              <c:pt idx="33">
                <c:v>1</c:v>
              </c:pt>
              <c:pt idx="34">
                <c:v>1</c:v>
              </c:pt>
              <c:pt idx="35">
                <c:v>1</c:v>
              </c:pt>
              <c:pt idx="36">
                <c:v>1</c:v>
              </c:pt>
              <c:pt idx="37">
                <c:v>1</c:v>
              </c:pt>
              <c:pt idx="38">
                <c:v>1</c:v>
              </c:pt>
              <c:pt idx="39">
                <c:v>1</c:v>
              </c:pt>
              <c:pt idx="40">
                <c:v>1</c:v>
              </c:pt>
              <c:pt idx="41">
                <c:v>0.7153950105848458</c:v>
              </c:pt>
              <c:pt idx="42">
                <c:v>0.5975077640500379</c:v>
              </c:pt>
              <c:pt idx="43">
                <c:v>0.5070496982453505</c:v>
              </c:pt>
              <c:pt idx="44">
                <c:v>0.4307900211696917</c:v>
              </c:pt>
              <c:pt idx="45">
                <c:v>0.36360389693210715</c:v>
              </c:pt>
              <c:pt idx="46">
                <c:v>0.30286299768266495</c:v>
              </c:pt>
              <c:pt idx="47">
                <c:v>0.247005976119332</c:v>
              </c:pt>
              <c:pt idx="48">
                <c:v>0.19501552810007572</c:v>
              </c:pt>
              <c:pt idx="49">
                <c:v>0.14618503175453762</c:v>
              </c:pt>
              <c:pt idx="50">
                <c:v>0.1</c:v>
              </c:pt>
            </c:numLit>
          </c:yVal>
        </c:ser>
        <c:ser>
          <c:idx val="1"/>
          <c:order val="1"/>
          <c:tx>
            <c:v>L1 · WSD-33</c:v>
          </c:tx>
          <c:spPr>
            <a:ln xmlns:a="http://schemas.openxmlformats.org/drawingml/2006/main" w="38100">
              <a:solidFill>
                <a:srgbClr val="6DCBF4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5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  <c:pt idx="31">
                <c:v>62</c:v>
              </c:pt>
              <c:pt idx="32">
                <c:v>64</c:v>
              </c:pt>
              <c:pt idx="33">
                <c:v>66</c:v>
              </c:pt>
              <c:pt idx="34">
                <c:v>68</c:v>
              </c:pt>
              <c:pt idx="35">
                <c:v>70</c:v>
              </c:pt>
              <c:pt idx="36">
                <c:v>72</c:v>
              </c:pt>
              <c:pt idx="37">
                <c:v>74</c:v>
              </c:pt>
              <c:pt idx="38">
                <c:v>76</c:v>
              </c:pt>
              <c:pt idx="39">
                <c:v>78</c:v>
              </c:pt>
              <c:pt idx="40">
                <c:v>80</c:v>
              </c:pt>
              <c:pt idx="41">
                <c:v>82</c:v>
              </c:pt>
              <c:pt idx="42">
                <c:v>84</c:v>
              </c:pt>
              <c:pt idx="43">
                <c:v>86</c:v>
              </c:pt>
              <c:pt idx="44">
                <c:v>88</c:v>
              </c:pt>
              <c:pt idx="45">
                <c:v>90</c:v>
              </c:pt>
              <c:pt idx="46">
                <c:v>92</c:v>
              </c:pt>
              <c:pt idx="47">
                <c:v>94</c:v>
              </c:pt>
              <c:pt idx="48">
                <c:v>96</c:v>
              </c:pt>
              <c:pt idx="49">
                <c:v>98</c:v>
              </c:pt>
              <c:pt idx="50">
                <c:v>100</c:v>
              </c:pt>
            </c:numLit>
          </c:xVal>
          <c:yVal>
            <c:numLit>
              <c:formatCode>0.0x</c:formatCode>
              <c:ptCount val="51"/>
              <c:pt idx="0">
                <c:v>0.1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  <c:pt idx="9">
                <c:v>1</c:v>
              </c:pt>
              <c:pt idx="10">
                <c:v>1</c:v>
              </c:pt>
              <c:pt idx="11">
                <c:v>1</c:v>
              </c:pt>
              <c:pt idx="12">
                <c:v>1</c:v>
              </c:pt>
              <c:pt idx="13">
                <c:v>1</c:v>
              </c:pt>
              <c:pt idx="14">
                <c:v>1</c:v>
              </c:pt>
              <c:pt idx="15">
                <c:v>1</c:v>
              </c:pt>
              <c:pt idx="16">
                <c:v>1</c:v>
              </c:pt>
              <c:pt idx="17">
                <c:v>1</c:v>
              </c:pt>
              <c:pt idx="18">
                <c:v>1</c:v>
              </c:pt>
              <c:pt idx="19">
                <c:v>1</c:v>
              </c:pt>
              <c:pt idx="20">
                <c:v>1</c:v>
              </c:pt>
              <c:pt idx="21">
                <c:v>1</c:v>
              </c:pt>
              <c:pt idx="22">
                <c:v>1</c:v>
              </c:pt>
              <c:pt idx="23">
                <c:v>1</c:v>
              </c:pt>
              <c:pt idx="24">
                <c:v>1</c:v>
              </c:pt>
              <c:pt idx="25">
                <c:v>1</c:v>
              </c:pt>
              <c:pt idx="26">
                <c:v>1</c:v>
              </c:pt>
              <c:pt idx="27">
                <c:v>1</c:v>
              </c:pt>
              <c:pt idx="28">
                <c:v>1</c:v>
              </c:pt>
              <c:pt idx="29">
                <c:v>1</c:v>
              </c:pt>
              <c:pt idx="30">
                <c:v>1</c:v>
              </c:pt>
              <c:pt idx="31">
                <c:v>1</c:v>
              </c:pt>
              <c:pt idx="32">
                <c:v>1</c:v>
              </c:pt>
              <c:pt idx="33">
                <c:v>1</c:v>
              </c:pt>
              <c:pt idx="34">
                <c:v>1</c:v>
              </c:pt>
              <c:pt idx="35">
                <c:v>1</c:v>
              </c:pt>
              <c:pt idx="36">
                <c:v>1</c:v>
              </c:pt>
              <c:pt idx="37">
                <c:v>1</c:v>
              </c:pt>
              <c:pt idx="38">
                <c:v>1</c:v>
              </c:pt>
              <c:pt idx="39">
                <c:v>1</c:v>
              </c:pt>
              <c:pt idx="40">
                <c:v>1</c:v>
              </c:pt>
              <c:pt idx="41">
                <c:v>0.7891814893221081</c:v>
              </c:pt>
              <c:pt idx="42">
                <c:v>0.7018576030000281</c:v>
              </c:pt>
              <c:pt idx="43">
                <c:v>0.6348516283298893</c:v>
              </c:pt>
              <c:pt idx="44">
                <c:v>0.5783629786442162</c:v>
              </c:pt>
              <c:pt idx="45">
                <c:v>0.5285954792089683</c:v>
              </c:pt>
              <c:pt idx="46">
                <c:v>0.4836022205056777</c:v>
              </c:pt>
              <c:pt idx="47">
                <c:v>0.4422266489772829</c:v>
              </c:pt>
              <c:pt idx="48">
                <c:v>0.40371520600005606</c:v>
              </c:pt>
              <c:pt idx="49">
                <c:v>0.3675444679663241</c:v>
              </c:pt>
              <c:pt idx="50">
                <c:v>0.3333333333333333</c:v>
              </c:pt>
            </c:numLit>
          </c:yVal>
        </c:ser>
        <c:ser>
          <c:idx val="2"/>
          <c:order val="2"/>
          <c:tx>
            <c:v>L2 · Constant</c:v>
          </c:tx>
          <c:spPr>
            <a:ln xmlns:a="http://schemas.openxmlformats.org/drawingml/2006/main" w="28575">
              <a:solidFill>
                <a:srgbClr val="000000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5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  <c:pt idx="31">
                <c:v>62</c:v>
              </c:pt>
              <c:pt idx="32">
                <c:v>64</c:v>
              </c:pt>
              <c:pt idx="33">
                <c:v>66</c:v>
              </c:pt>
              <c:pt idx="34">
                <c:v>68</c:v>
              </c:pt>
              <c:pt idx="35">
                <c:v>70</c:v>
              </c:pt>
              <c:pt idx="36">
                <c:v>72</c:v>
              </c:pt>
              <c:pt idx="37">
                <c:v>74</c:v>
              </c:pt>
              <c:pt idx="38">
                <c:v>76</c:v>
              </c:pt>
              <c:pt idx="39">
                <c:v>78</c:v>
              </c:pt>
              <c:pt idx="40">
                <c:v>80</c:v>
              </c:pt>
              <c:pt idx="41">
                <c:v>82</c:v>
              </c:pt>
              <c:pt idx="42">
                <c:v>84</c:v>
              </c:pt>
              <c:pt idx="43">
                <c:v>86</c:v>
              </c:pt>
              <c:pt idx="44">
                <c:v>88</c:v>
              </c:pt>
              <c:pt idx="45">
                <c:v>90</c:v>
              </c:pt>
              <c:pt idx="46">
                <c:v>92</c:v>
              </c:pt>
              <c:pt idx="47">
                <c:v>94</c:v>
              </c:pt>
              <c:pt idx="48">
                <c:v>96</c:v>
              </c:pt>
              <c:pt idx="49">
                <c:v>98</c:v>
              </c:pt>
              <c:pt idx="50">
                <c:v>100</c:v>
              </c:pt>
            </c:numLit>
          </c:xVal>
          <c:yVal>
            <c:numLit>
              <c:formatCode>0.0x</c:formatCode>
              <c:ptCount val="51"/>
              <c:pt idx="0">
                <c:v>0.1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  <c:pt idx="9">
                <c:v>1</c:v>
              </c:pt>
              <c:pt idx="10">
                <c:v>1</c:v>
              </c:pt>
              <c:pt idx="11">
                <c:v>1</c:v>
              </c:pt>
              <c:pt idx="12">
                <c:v>1</c:v>
              </c:pt>
              <c:pt idx="13">
                <c:v>1</c:v>
              </c:pt>
              <c:pt idx="14">
                <c:v>1</c:v>
              </c:pt>
              <c:pt idx="15">
                <c:v>1</c:v>
              </c:pt>
              <c:pt idx="16">
                <c:v>1</c:v>
              </c:pt>
              <c:pt idx="17">
                <c:v>1</c:v>
              </c:pt>
              <c:pt idx="18">
                <c:v>1</c:v>
              </c:pt>
              <c:pt idx="19">
                <c:v>1</c:v>
              </c:pt>
              <c:pt idx="20">
                <c:v>1</c:v>
              </c:pt>
              <c:pt idx="21">
                <c:v>1</c:v>
              </c:pt>
              <c:pt idx="22">
                <c:v>1</c:v>
              </c:pt>
              <c:pt idx="23">
                <c:v>1</c:v>
              </c:pt>
              <c:pt idx="24">
                <c:v>1</c:v>
              </c:pt>
              <c:pt idx="25">
                <c:v>1</c:v>
              </c:pt>
              <c:pt idx="26">
                <c:v>1</c:v>
              </c:pt>
              <c:pt idx="27">
                <c:v>1</c:v>
              </c:pt>
              <c:pt idx="28">
                <c:v>1</c:v>
              </c:pt>
              <c:pt idx="29">
                <c:v>1</c:v>
              </c:pt>
              <c:pt idx="30">
                <c:v>1</c:v>
              </c:pt>
              <c:pt idx="31">
                <c:v>1</c:v>
              </c:pt>
              <c:pt idx="32">
                <c:v>1</c:v>
              </c:pt>
              <c:pt idx="33">
                <c:v>1</c:v>
              </c:pt>
              <c:pt idx="34">
                <c:v>1</c:v>
              </c:pt>
              <c:pt idx="35">
                <c:v>1</c:v>
              </c:pt>
              <c:pt idx="36">
                <c:v>1</c:v>
              </c:pt>
              <c:pt idx="37">
                <c:v>1</c:v>
              </c:pt>
              <c:pt idx="38">
                <c:v>1</c:v>
              </c:pt>
              <c:pt idx="39">
                <c:v>1</c:v>
              </c:pt>
              <c:pt idx="40">
                <c:v>1</c:v>
              </c:pt>
              <c:pt idx="41">
                <c:v>1</c:v>
              </c:pt>
              <c:pt idx="42">
                <c:v>1</c:v>
              </c:pt>
              <c:pt idx="43">
                <c:v>1</c:v>
              </c:pt>
              <c:pt idx="44">
                <c:v>1</c:v>
              </c:pt>
              <c:pt idx="45">
                <c:v>1</c:v>
              </c:pt>
              <c:pt idx="46">
                <c:v>1</c:v>
              </c:pt>
              <c:pt idx="47">
                <c:v>1</c:v>
              </c:pt>
              <c:pt idx="48">
                <c:v>1</c:v>
              </c:pt>
              <c:pt idx="49">
                <c:v>1</c:v>
              </c:pt>
              <c:pt idx="50">
                <c:v>1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000000"/>
                    </a:solidFill>
                  </a:rPr>
                  <a:t>LR / selected peak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000000"/>
                  </a:solidFill>
                </a:defRPr>
              </a:pPr>
            </a:p>
          </c:txPr>
        </c:title>
        <c:numFmt formatCode="0.0x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00000"/>
                </a:solidFill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000000"/>
                    </a:solidFill>
                  </a:rPr>
                  <a:t>Training progress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000000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00000"/>
                </a:solidFill>
              </a:defRPr>
            </a:pPr>
          </a:p>
        </c:txPr>
        <c:crossAx val="48672768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000000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C0DD081A-F20F-4041-9303-E69FCADD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Learning-rate tails
for ordered Greek CPT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E41F9A39-7583-4FB5-8CFB-34FEB39D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Five data orders × three controlled LR tails
Design freeze · 1 August 2026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B07147F-B4AD-4DAD-B334-D90AD3EF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APERTUS v1.1 · 0.5B</a:t>
            </a:r>
          </a:p>
        </p:txBody>
      </p:sp>
    </p:spTree>
    <p:extLst>
      <p:ext uri="{BB962C8B-B14F-4D97-AF65-F5344CB8AC3E}">
        <p14:creationId xmlns:p14="http://schemas.microsoft.com/office/powerpoint/2010/main" val="17318428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CC5C9D0-FB35-49BC-B1D4-9436F284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FAB5D34-E138-4A32-B8D2-B1A9E79F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peak is chosen. The tail is the new variable.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AB9B056F-AE08-43EA-998C-6A5DAB3D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B7DD11F-C1D4-4D24-BCA6-EAE08B9F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8B result · 5.5e−5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75A97A1C-C2E8-4E79-8B27-B59628EE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GreekMMLU final 58.50%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Foreign mean Δloss −0.0579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Chosen for balance, not max MCQ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25CC1664-0D74-43AA-BA86-542B1DB3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3B0A307C-5F52-4826-9AE4-9870A9CB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Mini default · 3e−4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B44595F2-5C41-4937-9258-90410CDC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0.5 × Mini pretraining peak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1.5e−4 fallback if smoke fails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is not a factorial variable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C33B7DE9-388A-4108-9A1B-D485701A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BRIDGE FROM THE COMPLETED SWEEP
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8B sweep selected a conservative loss-first peak. For Mini, we preserve the tested CPT/pretraining ratio and keep the peak common across every arm.
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Only the final 20% LR treatment becomes experimental.</a:t>
            </a:r>
          </a:p>
        </p:txBody>
      </p:sp>
    </p:spTree>
    <p:extLst>
      <p:ext uri="{BB962C8B-B14F-4D97-AF65-F5344CB8AC3E}">
        <p14:creationId xmlns:p14="http://schemas.microsoft.com/office/powerpoint/2010/main" val="12935173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8CDFA2D-8E3C-4315-A335-43A82D56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9D9BFC1-F4FA-435F-A63E-1D1C0759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Five data orders × three LR tails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38A1776D-9B99-43D9-900F-0356EA1A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CLEAN FACTORIAL
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Every cell sees the same documents once, with identical 20% foreign and 1% Old-Greek replay.</a:t>
            </a:r>
          </a:p>
        </p:txBody>
      </p:sp>
      <p:graphicFrame>
        <p:nvGraphicFramePr>
          <p:cNvPr id="8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 firstRow="1" firstCol="1" bandRow="0"/>
              <a:tblGrid>
                <a:gridCol w="1000125"/>
                <a:gridCol w="1000125"/>
                <a:gridCol w="2571750"/>
                <a:gridCol w="3143250"/>
                <a:gridCol w="3689318"/>
              </a:tblGrid>
              <a:tr h="436954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Factor</a:t>
                      </a:r>
                    </a:p>
                  </a:txBody>
                  <a:tcPr marL="85725" marR="85725" marT="66675" marB="66675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ID</a:t>
                      </a:r>
                    </a:p>
                  </a:txBody>
                  <a:tcPr marL="85725" marR="85725" marT="66675" marB="66675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Treatment</a:t>
                      </a:r>
                    </a:p>
                  </a:txBody>
                  <a:tcPr marL="85725" marR="85725" marT="66675" marB="66675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Schedule detail</a:t>
                      </a:r>
                    </a:p>
                  </a:txBody>
                  <a:tcPr marL="85725" marR="85725" marT="66675" marB="66675" anchor="ctr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</a:rPr>
                        <a:t>Held fixed</a:t>
                      </a:r>
                    </a:p>
                  </a:txBody>
                  <a:tcPr marL="85725" marR="85725" marT="66675" marB="66675" anchor="ctr">
                    <a:solidFill>
                      <a:srgbClr val="D0EDFA"/>
                    </a:solidFill>
                  </a:tcPr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Data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D0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Mixed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H/G randomized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same tokens</a:t>
                      </a:r>
                    </a:p>
                  </a:txBody>
                  <a:tcPr marL="85725" marR="85725" marT="66675" marB="66675" anchor="ctr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Data</a:t>
                      </a:r>
                    </a:p>
                  </a:txBody>
                  <a:tcPr marL="85725" marR="85725" marT="66675" marB="66675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D1</a:t>
                      </a:r>
                    </a:p>
                  </a:txBody>
                  <a:tcPr marL="85725" marR="85725" marT="66675" marB="66675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Hard H→G</a:t>
                      </a:r>
                    </a:p>
                  </a:txBody>
                  <a:tcPr marL="85725" marR="85725" marT="66675" marB="66675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switch at 69.03%</a:t>
                      </a:r>
                    </a:p>
                  </a:txBody>
                  <a:tcPr marL="85725" marR="85725" marT="66675" marB="66675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same replay</a:t>
                      </a:r>
                    </a:p>
                  </a:txBody>
                  <a:tcPr marL="85725" marR="85725" marT="66675" marB="66675" anchor="ctr">
                    <a:solidFill>
                      <a:srgbClr val="F7F7F7"/>
                    </a:solidFill>
                  </a:tcPr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Data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D2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Hard G→H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switch at 30.97%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same replay</a:t>
                      </a:r>
                    </a:p>
                  </a:txBody>
                  <a:tcPr marL="85725" marR="85725" marT="66675" marB="66675" anchor="ctr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Data</a:t>
                      </a:r>
                    </a:p>
                  </a:txBody>
                  <a:tcPr marL="85725" marR="85725" marT="66675" marB="66675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D3</a:t>
                      </a:r>
                    </a:p>
                  </a:txBody>
                  <a:tcPr marL="85725" marR="85725" marT="66675" marB="66675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Gradual H→G</a:t>
                      </a:r>
                    </a:p>
                  </a:txBody>
                  <a:tcPr marL="85725" marR="85725" marT="66675" marB="66675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g(u)=u^2.2285</a:t>
                      </a:r>
                    </a:p>
                  </a:txBody>
                  <a:tcPr marL="85725" marR="85725" marT="66675" marB="66675"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128 windows</a:t>
                      </a:r>
                    </a:p>
                  </a:txBody>
                  <a:tcPr marL="85725" marR="85725" marT="66675" marB="66675" anchor="ctr">
                    <a:solidFill>
                      <a:srgbClr val="F7F7F7"/>
                    </a:solidFill>
                  </a:tcPr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Data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D4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Gradual G→H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mirror of D3</a:t>
                      </a:r>
                    </a:p>
                  </a:txBody>
                  <a:tcPr marL="85725" marR="85725" marT="66675" marB="66675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128 windows</a:t>
                      </a:r>
                    </a:p>
                  </a:txBody>
                  <a:tcPr marL="85725" marR="85725" marT="66675" marB="66675" anchor="ctr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LR</a:t>
                      </a:r>
                    </a:p>
                  </a:txBody>
                  <a:tcPr marL="85725" marR="85725" marT="66675" marB="66675" anchor="ctr">
                    <a:solidFill>
                      <a:srgbClr val="EA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L0</a:t>
                      </a:r>
                    </a:p>
                  </a:txBody>
                  <a:tcPr marL="85725" marR="85725" marT="66675" marB="66675" anchor="ctr">
                    <a:solidFill>
                      <a:srgbClr val="EA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WSD-10</a:t>
                      </a:r>
                    </a:p>
                  </a:txBody>
                  <a:tcPr marL="85725" marR="85725" marT="66675" marB="66675" anchor="ctr">
                    <a:solidFill>
                      <a:srgbClr val="EA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1−√ tail to 0.1×</a:t>
                      </a:r>
                    </a:p>
                  </a:txBody>
                  <a:tcPr marL="85725" marR="85725" marT="66675" marB="66675" anchor="ctr">
                    <a:solidFill>
                      <a:srgbClr val="EA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starts at 80%</a:t>
                      </a:r>
                    </a:p>
                  </a:txBody>
                  <a:tcPr marL="85725" marR="85725" marT="66675" marB="66675" anchor="ctr">
                    <a:solidFill>
                      <a:srgbClr val="EAF5FC"/>
                    </a:solidFill>
                  </a:tcPr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LR</a:t>
                      </a:r>
                    </a:p>
                  </a:txBody>
                  <a:tcPr marL="85725" marR="85725" marT="66675" marB="66675" anchor="ctr"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L1</a:t>
                      </a:r>
                    </a:p>
                  </a:txBody>
                  <a:tcPr marL="85725" marR="85725" marT="66675" marB="66675" anchor="ctr"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WSD-33</a:t>
                      </a:r>
                    </a:p>
                  </a:txBody>
                  <a:tcPr marL="85725" marR="85725" marT="66675" marB="66675" anchor="ctr"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same curve to 1/3×</a:t>
                      </a:r>
                    </a:p>
                  </a:txBody>
                  <a:tcPr marL="85725" marR="85725" marT="66675" marB="66675" anchor="ctr">
                    <a:solidFill>
                      <a:srgbClr val="F5FA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starts at 80%</a:t>
                      </a:r>
                    </a:p>
                  </a:txBody>
                  <a:tcPr marL="85725" marR="85725" marT="66675" marB="66675" anchor="ctr">
                    <a:solidFill>
                      <a:srgbClr val="F5FAFD"/>
                    </a:solidFill>
                  </a:tcPr>
                </a:tc>
              </a:tr>
              <a:tr h="43695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LR</a:t>
                      </a:r>
                    </a:p>
                  </a:txBody>
                  <a:tcPr marL="85725" marR="85725" marT="66675" marB="66675" anchor="ctr">
                    <a:solidFill>
                      <a:srgbClr val="EA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</a:rPr>
                        <a:t>L2</a:t>
                      </a:r>
                    </a:p>
                  </a:txBody>
                  <a:tcPr marL="85725" marR="85725" marT="66675" marB="66675" anchor="ctr">
                    <a:solidFill>
                      <a:srgbClr val="EA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Constant tail</a:t>
                      </a:r>
                    </a:p>
                  </a:txBody>
                  <a:tcPr marL="85725" marR="85725" marT="66675" marB="66675" anchor="ctr">
                    <a:solidFill>
                      <a:srgbClr val="EA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stay at 1.0×</a:t>
                      </a:r>
                    </a:p>
                  </a:txBody>
                  <a:tcPr marL="85725" marR="85725" marT="66675" marB="66675" anchor="ctr">
                    <a:solidFill>
                      <a:srgbClr val="EA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starts at 80%</a:t>
                      </a:r>
                    </a:p>
                  </a:txBody>
                  <a:tcPr marL="85725" marR="85725" marT="66675" marB="66675" anchor="ctr">
                    <a:solidFill>
                      <a:srgbClr val="EAF5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32410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9600CB0-43C3-4A96-9D84-A155702F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F5708F2-C52C-4258-A133-EE256ECE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All three tails diverge only after 80%</a:t>
            </a:r>
          </a:p>
        </p:txBody>
      </p:sp>
      <p:sp>
        <p:nvSpPr>
          <p:cNvPr id="3" name="Rounded-Rectangle-36-4">
            <a:extLst xmlns:a="http://schemas.openxmlformats.org/drawingml/2006/main">
              <a:ext uri="{FF2B5EF4-FFF2-40B4-BE49-F238E27FC236}">
                <a16:creationId xmlns:a16="http://schemas.microsoft.com/office/drawing/2014/main" id="{45054337-471E-43A8-9932-74416BE6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022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9-5">
            <a:extLst xmlns:a="http://schemas.openxmlformats.org/drawingml/2006/main">
              <a:ext uri="{FF2B5EF4-FFF2-40B4-BE49-F238E27FC236}">
                <a16:creationId xmlns:a16="http://schemas.microsoft.com/office/drawing/2014/main" id="{7DC7ACC5-AAB4-41A6-87CE-00EFB9A0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85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80%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757309FD-0B7F-4459-BAC8-05F15D49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65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identical prefix</a:t>
            </a:r>
          </a:p>
        </p:txBody>
      </p:sp>
      <p:sp>
        <p:nvSpPr>
          <p:cNvPr id="6" name="Rounded-Rectangle-39-7">
            <a:extLst xmlns:a="http://schemas.openxmlformats.org/drawingml/2006/main">
              <a:ext uri="{FF2B5EF4-FFF2-40B4-BE49-F238E27FC236}">
                <a16:creationId xmlns:a16="http://schemas.microsoft.com/office/drawing/2014/main" id="{DA3BB848-A091-45EA-9072-CFF00583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201" y="3360039"/>
            <a:ext cx="2581942" cy="2656523"/>
          </a:xfrm>
          <a:prstGeom xmlns:a="http://schemas.openxmlformats.org/drawingml/2006/main" prst="roundRect">
            <a:avLst>
              <a:gd name="adj" fmla="val 29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9-8">
            <a:extLst xmlns:a="http://schemas.openxmlformats.org/drawingml/2006/main">
              <a:ext uri="{FF2B5EF4-FFF2-40B4-BE49-F238E27FC236}">
                <a16:creationId xmlns:a16="http://schemas.microsoft.com/office/drawing/2014/main" id="{009C8483-CDCF-4DDB-9611-FC5BA17A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64" y="3579971"/>
            <a:ext cx="2133314" cy="11558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tails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90D5D910-1E60-4D6F-A341-B163B505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43" y="5068253"/>
            <a:ext cx="2066735" cy="6159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same remaining IDs</a:t>
            </a:r>
          </a:p>
        </p:txBody>
      </p:sp>
      <p:sp>
        <p:nvSpPr>
          <p:cNvPr id="9" name="Content-Placeholder-2-10">
            <a:extLst xmlns:a="http://schemas.openxmlformats.org/drawingml/2006/main">
              <a:ext uri="{FF2B5EF4-FFF2-40B4-BE49-F238E27FC236}">
                <a16:creationId xmlns:a16="http://schemas.microsoft.com/office/drawing/2014/main" id="{D40B1A61-568A-4580-9488-E1BF0804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068" y="1955578"/>
            <a:ext cx="5539835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Warm from 0.1× to peak over 800 steps, hold at peak, then branch from the same complete state.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385858" y="1254728"/>
          <a:ext xmlns:a="http://schemas.openxmlformats.org/drawingml/2006/main" cx="5534216" cy="5024533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04e31af6cd431c"/>
          </a:graphicData>
        </a:graphic>
      </p:graphicFrame>
    </p:spTree>
    <p:extLst>
      <p:ext uri="{BB962C8B-B14F-4D97-AF65-F5344CB8AC3E}">
        <p14:creationId xmlns:p14="http://schemas.microsoft.com/office/powerpoint/2010/main" val="7447683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3073B38-C00E-405C-8935-EF527ED7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E8D3043-33E8-4C88-B7C4-BCA159DC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Branch at 80%—without changing the data</a:t>
            </a:r>
          </a:p>
        </p:txBody>
      </p:sp>
      <p:graphicFrame>
        <p:nvGraphicFramePr>
          <p:cNvPr id="18" name="Google-Shape-953-p80-4"/>
          <p:cNvGraphicFramePr/>
          <p:nvPr/>
        </p:nvGraphicFramePr>
        <p:xfrm>
          <a:off xmlns:a="http://schemas.openxmlformats.org/drawingml/2006/main" x="393668" y="1379887"/>
          <a:ext xmlns:a="http://schemas.openxmlformats.org/drawingml/2006/main" cx="11404664" cy="461448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80952"/>
                <a:gridCol w="2280952"/>
                <a:gridCol w="2280952"/>
                <a:gridCol w="2280952"/>
                <a:gridCol w="2280952"/>
              </a:tblGrid>
              <a:tr h="4614482">
                <a:tc>
                  <a:txBody>
                    <a:bodyPr/>
                    <a:lstStyle/>
                    <a:p>
                      <a:r>
                        <a:rPr sz="1200" b="1"/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/>
                        <a:t>20%</a:t>
                      </a:r>
                    </a:p>
                  </a:txBody>
                  <a:tcPr marL="91440" marR="91440" marT="45720" marB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/>
                        <a:t>40%</a:t>
                      </a:r>
                    </a:p>
                  </a:txBody>
                  <a:tcPr marL="91440" marR="91440" marT="45720" marB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/>
                        <a:t>60%</a:t>
                      </a:r>
                    </a:p>
                  </a:txBody>
                  <a:tcPr marL="91440" marR="91440" marT="45720" marB="4572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/>
                        <a:t>80% → 100%</a:t>
                      </a:r>
                    </a:p>
                  </a:txBody>
                  <a:tcPr marL="91440" marR="91440" marT="45720" marB="45720" anchor="ctr">
                    <a:solidFill>
                      <a:srgbClr val="D0EDFA"/>
                    </a:solidFill>
                  </a:tcPr>
                </a:tc>
              </a:tr>
            </a:tbl>
          </a:graphicData>
        </a:graphic>
      </p:graphicFrame>
      <p:sp>
        <p:nvSpPr>
          <p:cNvPr id="4" name="Google-Shape-955-p80-5">
            <a:extLst xmlns:a="http://schemas.openxmlformats.org/drawingml/2006/main">
              <a:ext uri="{FF2B5EF4-FFF2-40B4-BE49-F238E27FC236}">
                <a16:creationId xmlns:a16="http://schemas.microsoft.com/office/drawing/2014/main" id="{6DB54ECD-B65F-446B-B15B-A840B2B1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366" y="4107752"/>
            <a:ext cx="2209419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Google-Shape-955-p80-5">
            <a:extLst xmlns:a="http://schemas.openxmlformats.org/drawingml/2006/main">
              <a:ext uri="{FF2B5EF4-FFF2-40B4-BE49-F238E27FC236}">
                <a16:creationId xmlns:a16="http://schemas.microsoft.com/office/drawing/2014/main" id="{D878F8CC-1668-4BBB-908B-39A8D962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366" y="4107752"/>
            <a:ext cx="2209419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L2 constant</a:t>
            </a:r>
          </a:p>
        </p:txBody>
      </p:sp>
      <p:sp>
        <p:nvSpPr>
          <p:cNvPr id="6" name="Google-Shape-957-p80-6">
            <a:extLst xmlns:a="http://schemas.openxmlformats.org/drawingml/2006/main">
              <a:ext uri="{FF2B5EF4-FFF2-40B4-BE49-F238E27FC236}">
                <a16:creationId xmlns:a16="http://schemas.microsoft.com/office/drawing/2014/main" id="{C17924E9-4A41-4954-A287-218F2480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73" y="5478399"/>
            <a:ext cx="11026712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Google-Shape-957-p80-6">
            <a:extLst xmlns:a="http://schemas.openxmlformats.org/drawingml/2006/main">
              <a:ext uri="{FF2B5EF4-FFF2-40B4-BE49-F238E27FC236}">
                <a16:creationId xmlns:a16="http://schemas.microsoft.com/office/drawing/2014/main" id="{68EEF82A-94E3-49D7-9E8B-62FF41E0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73" y="5478399"/>
            <a:ext cx="11026712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reset: model · optimizer · AdEMAMix ramps · RNG · dataloader cursor</a:t>
            </a:r>
          </a:p>
        </p:txBody>
      </p:sp>
      <p:sp>
        <p:nvSpPr>
          <p:cNvPr id="8" name="Google-Shape-960-p80-7">
            <a:extLst xmlns:a="http://schemas.openxmlformats.org/drawingml/2006/main">
              <a:ext uri="{FF2B5EF4-FFF2-40B4-BE49-F238E27FC236}">
                <a16:creationId xmlns:a16="http://schemas.microsoft.com/office/drawing/2014/main" id="{16891E60-C50A-446A-8C2E-494F9DF2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366" y="4754975"/>
            <a:ext cx="2209419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Google-Shape-960-p80-7">
            <a:extLst xmlns:a="http://schemas.openxmlformats.org/drawingml/2006/main">
              <a:ext uri="{FF2B5EF4-FFF2-40B4-BE49-F238E27FC236}">
                <a16:creationId xmlns:a16="http://schemas.microsoft.com/office/drawing/2014/main" id="{A11C713F-67FB-4798-B200-2D700B44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366" y="4754975"/>
            <a:ext cx="2209419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same remaining sequence IDs</a:t>
            </a:r>
          </a:p>
        </p:txBody>
      </p:sp>
      <p:sp>
        <p:nvSpPr>
          <p:cNvPr id="10" name="Google-Shape-963-p80-8">
            <a:extLst xmlns:a="http://schemas.openxmlformats.org/drawingml/2006/main">
              <a:ext uri="{FF2B5EF4-FFF2-40B4-BE49-F238E27FC236}">
                <a16:creationId xmlns:a16="http://schemas.microsoft.com/office/drawing/2014/main" id="{821D1373-A3B9-4031-8D38-0122B3D3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366" y="3403187"/>
            <a:ext cx="2209419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1" name="Google-Shape-963-p80-8">
            <a:extLst xmlns:a="http://schemas.openxmlformats.org/drawingml/2006/main">
              <a:ext uri="{FF2B5EF4-FFF2-40B4-BE49-F238E27FC236}">
                <a16:creationId xmlns:a16="http://schemas.microsoft.com/office/drawing/2014/main" id="{9C9EC443-23ED-40B8-A309-B484D610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366" y="3403187"/>
            <a:ext cx="2209419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L1 → 1/3×</a:t>
            </a:r>
          </a:p>
        </p:txBody>
      </p:sp>
      <p:sp>
        <p:nvSpPr>
          <p:cNvPr id="12" name="Google-Shape-966-p80-9">
            <a:extLst xmlns:a="http://schemas.openxmlformats.org/drawingml/2006/main">
              <a:ext uri="{FF2B5EF4-FFF2-40B4-BE49-F238E27FC236}">
                <a16:creationId xmlns:a16="http://schemas.microsoft.com/office/drawing/2014/main" id="{D7BA93F1-C9A9-4FEF-A0CD-2F88081A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366" y="2698528"/>
            <a:ext cx="2209419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3" name="Google-Shape-966-p80-9">
            <a:extLst xmlns:a="http://schemas.openxmlformats.org/drawingml/2006/main">
              <a:ext uri="{FF2B5EF4-FFF2-40B4-BE49-F238E27FC236}">
                <a16:creationId xmlns:a16="http://schemas.microsoft.com/office/drawing/2014/main" id="{15545D03-AC7B-4E44-BED9-2FC89CAC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366" y="2698528"/>
            <a:ext cx="2209419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L0 → 0.1×</a:t>
            </a:r>
          </a:p>
        </p:txBody>
      </p:sp>
      <p:sp>
        <p:nvSpPr>
          <p:cNvPr id="14" name="Google-Shape-969-p80-10">
            <a:extLst xmlns:a="http://schemas.openxmlformats.org/drawingml/2006/main">
              <a:ext uri="{FF2B5EF4-FFF2-40B4-BE49-F238E27FC236}">
                <a16:creationId xmlns:a16="http://schemas.microsoft.com/office/drawing/2014/main" id="{79A5AA4D-4920-41E2-92B8-8BB45221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73" y="1975104"/>
            <a:ext cx="8817293" cy="513302"/>
          </a:xfrm>
          <a:prstGeom xmlns:a="http://schemas.openxmlformats.org/drawingml/2006/main" prst="roundRect">
            <a:avLst>
              <a:gd name="adj" fmla="val 1484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5" name="Google-Shape-969-p80-10">
            <a:extLst xmlns:a="http://schemas.openxmlformats.org/drawingml/2006/main">
              <a:ext uri="{FF2B5EF4-FFF2-40B4-BE49-F238E27FC236}">
                <a16:creationId xmlns:a16="http://schemas.microsoft.com/office/drawing/2014/main" id="{AB7165C6-5A71-4D3F-ACEA-087238A7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73" y="1975104"/>
            <a:ext cx="8817293" cy="5133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210312" tIns="121920" rIns="121920" bIns="1219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Train one D-arm prefix</a:t>
            </a:r>
          </a:p>
        </p:txBody>
      </p:sp>
    </p:spTree>
    <p:extLst>
      <p:ext uri="{BB962C8B-B14F-4D97-AF65-F5344CB8AC3E}">
        <p14:creationId xmlns:p14="http://schemas.microsoft.com/office/powerpoint/2010/main" val="122812900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3184D02-4AC6-4FF9-9D6B-DE77C80D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C2CF7954-BBF6-405D-94B1-B36B3DE1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Averaging yields three endpoints per trajectory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FD3BA6D7-5827-4900-ABF2-561C15FD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4C013890-0BCA-4C3B-AF99-EBB98B12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C41D1887-B106-46A4-BF14-4D755F77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7B2BB3D0-8D3F-46B2-BDFF-69C9D2A4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9EE1EB90-0D6B-4155-8F40-72CD83D6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Six checkpoints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Save at 80, 84, 88, 92, 96 and 100% of loss-active tokens.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E05EB33F-3987-43B6-9C38-3BB121D6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647E8E02-2C57-4083-9CF7-D525EE27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SMA-6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Simple fp32 parameter mean. Do not average optimizer state.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B4DE976F-E882-45B9-9213-5A655965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FE89332C-DBEA-4A2D-A040-31832052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EMA-6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A₁=M₁; Aᵢ=.2Mᵢ+.8Aᵢ₋₁. Retie embeddings after export.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CBD26CF6-C37E-465F-BE98-870F3F63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100%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E7BCA9BA-4F94-41D7-89FF-8BBD4460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80%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A6DFEA80-2710-47D3-B6D2-8F49C467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Evaluate</a:t>
            </a:r>
          </a:p>
        </p:txBody>
      </p:sp>
    </p:spTree>
    <p:extLst>
      <p:ext uri="{BB962C8B-B14F-4D97-AF65-F5344CB8AC3E}">
        <p14:creationId xmlns:p14="http://schemas.microsoft.com/office/powerpoint/2010/main" val="15179664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6D100643-0BC7-4341-8301-EB38E368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BE4EE4C4-DD74-4480-B9AA-813064DE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F62E954C-E968-4161-8F6C-01644D95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DA31A4A5-AF39-44BD-AF6F-15EEEFEB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F8736681-6661-435B-9E5A-2D3BEB67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Prefix sharing reduces compute to seven full runs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764EAD50-3525-4ED2-A604-F760C6AF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optimization
trajectories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0E1F815-4BF2-433C-895C-B6E1B0A0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full-run
equivalents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4DBC3D54-31B1-4482-B5E2-F5ACE7A0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raw / SMA / EMA
endpoints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2491708B-15E9-4404-A0CD-B9345142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9711CC4A-FFC9-4059-B331-DF59850C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45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A57941C1-2FD2-40D0-92F2-9F845856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7×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1C171A13-844D-4C51-AC01-5C801BD1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COMPUTE ACCOUNTING
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Naively, 15 trajectories cost 15 full runs. Training each data arm once to 80% makes the tails paired and much cheaper.</a:t>
            </a:r>
          </a:p>
        </p:txBody>
      </p:sp>
    </p:spTree>
    <p:extLst>
      <p:ext uri="{BB962C8B-B14F-4D97-AF65-F5344CB8AC3E}">
        <p14:creationId xmlns:p14="http://schemas.microsoft.com/office/powerpoint/2010/main" val="16841995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44CC5BE-704C-48D3-95AB-DFF53CCC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C0DF001-44D9-44BA-AF58-DC523A51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Retention gates come before Greek gains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670F29B7-58BF-4C87-9171-625E0603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winner by final GlossAPI loss alone.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EF34E12-3F79-45FE-9B4C-D33979E9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Foreign BPB within margin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C3E79BA6-17C2-433B-B812-7468D7AA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2F9C8999-03E2-4499-B943-ED120AC3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Primary screen: source-conditioned BPB, neutral external Greek, and balanced HPLT/GlossAPI relative gain.
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Continuous metrics carry the 0.5B screen; accuracy confirms finalists.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AE02B506-E314-4595-A2B3-D8691A6D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Old-Greek BPB within margin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AF0A0AB3-165A-49FA-927C-19920CFF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91C347D5-B0A1-4559-86E0-2BFE7A3C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General suite non-inferior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2EC2597B-6093-49D0-8CA4-AA70778D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9A916817-6043-4BE1-B8E5-A6657529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Rank neutral + balanced Greek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A504C319-487B-4155-9281-87D993B6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1818D00A-F8E6-47CC-ADD2-9700B944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Confirm with continuous MCQ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E3384013-1B61-4F62-9721-2F789952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55147350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C8F2B2F1-2CDA-4E95-93A6-964E6433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clean test of
when to cool down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26EE3AD5-6870-4505-8228-22076E58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Same data + initialization.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Only ordering × LR tail changes.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Launch after all gates pass.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2743C123-19F2-425F-B96C-EA2EC6DD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NEXT EXPERIMENT</a:t>
            </a:r>
          </a:p>
        </p:txBody>
      </p:sp>
    </p:spTree>
    <p:extLst>
      <p:ext uri="{BB962C8B-B14F-4D97-AF65-F5344CB8AC3E}">
        <p14:creationId xmlns:p14="http://schemas.microsoft.com/office/powerpoint/2010/main" val="16248378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2026-08-01T14:40:01.7920000Z</dcterms:created>
  <dcterms:modified xsi:type="dcterms:W3CDTF">2026-08-01T14:40:01.7920000Z</dcterms:modified>
</coreProperties>
</file>